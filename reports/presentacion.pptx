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Predicción de default en préstamos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E0"/>
                </a:solidFill>
                <a:latin typeface="Calibri"/>
              </a:rPr>
              <a:t>Modelo de admisión de crédito sobre datos de LendingClub, validado out-of-time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Rosario Sánchez Mosquipa · Ruth Velarde Retamozo · Juan Gutiérrez Aguilar · Katherine Mauri Córdova · Densel Castillón Medina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3E0"/>
                </a:solidFill>
                <a:latin typeface="Calibri"/>
              </a:rPr>
              <a:t>Diplomado en Data Analytics, Pontificia Universidad Católica del Perú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Por qué predecir el default importa en una plataforma P2P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142B4A"/>
                </a:solidFill>
                <a:latin typeface="Calibri"/>
              </a:rPr>
              <a:t>Contexto.  </a:t>
            </a:r>
            <a:r>
              <a:rPr sz="1500">
                <a:solidFill>
                  <a:srgbClr val="222222"/>
                </a:solidFill>
                <a:latin typeface="Calibri"/>
              </a:rPr>
              <a:t>En un préstamo P2P el inversionista asume el riesgo directamente; no hay banco que absorba las pérdidas.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42B4A"/>
                </a:solidFill>
                <a:latin typeface="Calibri"/>
              </a:rPr>
              <a:t>Pregunta.  </a:t>
            </a:r>
            <a:r>
              <a:rPr sz="1500">
                <a:solidFill>
                  <a:srgbClr val="222222"/>
                </a:solidFill>
                <a:latin typeface="Calibri"/>
              </a:rPr>
              <a:t>Dado un solicitante, ¿qué probabilidad tiene de no pagar? Y con eso, ¿a quién aprobar y a qué precio?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42B4A"/>
                </a:solidFill>
                <a:latin typeface="Calibri"/>
              </a:rPr>
              <a:t>Restricción clave.  </a:t>
            </a:r>
            <a:r>
              <a:rPr sz="1500">
                <a:solidFill>
                  <a:srgbClr val="222222"/>
                </a:solidFill>
                <a:latin typeface="Calibri"/>
              </a:rPr>
              <a:t>La decisión se toma el día de la originación. El modelo solo puede usar lo que se sabía ese día.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42B4A"/>
                </a:solidFill>
                <a:latin typeface="Calibri"/>
              </a:rPr>
              <a:t>Cómo se evalúa.  </a:t>
            </a:r>
            <a:r>
              <a:rPr sz="1500">
                <a:solidFill>
                  <a:srgbClr val="222222"/>
                </a:solidFill>
                <a:latin typeface="Calibri"/>
              </a:rPr>
              <a:t>Entrenando con cosechas antiguas y midiendo sobre cosechas posteriores (out-of-time), como se valida un modelo antes de producción.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234440"/>
            <a:ext cx="493776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08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B4A"/>
                </a:solidFill>
                <a:latin typeface="Calibri"/>
              </a:rPr>
              <a:t>Entregables del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Probabilidad de default por solicitud (PD)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Ordenamiento de riesgo: AUC / Gini / KS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Punto de corte según costo de negocio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Tabla de deciles para discutir política de aprobación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Explicabilidad por variable (SHAP) y scorecard auditable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LendingClub 2007–2018Q4 (Kaggle) · 2.26 M préstamos · 151 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Target.  </a:t>
            </a:r>
            <a:r>
              <a:rPr sz="1400">
                <a:solidFill>
                  <a:srgbClr val="222222"/>
                </a:solidFill>
                <a:latin typeface="Calibri"/>
              </a:rPr>
              <a:t>default = 1 si el préstamo terminó Charged Off; 0 si Fully Paid. Los vigentes se excluyen.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Desde 2010.  </a:t>
            </a:r>
            <a:r>
              <a:rPr sz="1400">
                <a:solidFill>
                  <a:srgbClr val="222222"/>
                </a:solidFill>
                <a:latin typeface="Calibri"/>
              </a:rPr>
              <a:t>Antes, LendingClub era otra empresa en volumen y política de crédito.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Madurez.  </a:t>
            </a:r>
            <a:r>
              <a:rPr sz="1400">
                <a:solidFill>
                  <a:srgbClr val="222222"/>
                </a:solidFill>
                <a:latin typeface="Calibri"/>
              </a:rPr>
              <a:t>Solo préstamos cuyo plazo (36/60 m) venció antes del cierre del extracto. Sin esto, las cosechas recientes solo tienen prepagos y defaults tempranos.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Variables.  </a:t>
            </a:r>
            <a:r>
              <a:rPr sz="1400">
                <a:solidFill>
                  <a:srgbClr val="222222"/>
                </a:solidFill>
                <a:latin typeface="Calibri"/>
              </a:rPr>
              <a:t>~60 numéricas + 6 categóricas conocidas al originar: términos, perfil del solicitante y buró. Lista blanca explícita.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B4A"/>
                </a:solidFill>
                <a:latin typeface="Calibri"/>
              </a:rPr>
              <a:t>Después de filtros: 667,024 préstamos · tasa de default 14.8%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737360"/>
          <a:ext cx="48463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828800"/>
                <a:gridCol w="10972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Préstamos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Originación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Tasa default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466,916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2010-01 → 2015-05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valid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100,053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2015-05 → 2015-09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2015-09 → 2015-12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3375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Split temporal: los préstamos más antiguos entrenan; los más recientes son test y no se tocan hasta el final. Validación se usa para early stopping, tuning y elección del umbral.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Fuga de información: la trampa de este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Cuarenta columnas describen la vida del préstamo, no al solicitante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Ejemplos.  </a:t>
            </a:r>
            <a:r>
              <a:rPr sz="1400">
                <a:solidFill>
                  <a:srgbClr val="222222"/>
                </a:solidFill>
                <a:latin typeface="Calibri"/>
              </a:rPr>
              <a:t>last_pymnt_amnt, total_rec_prncp, recoveries, last_fico_range_*, hardship_*, settlement_*.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Por qué engañan.  </a:t>
            </a:r>
            <a:r>
              <a:rPr sz="1400">
                <a:solidFill>
                  <a:srgbClr val="222222"/>
                </a:solidFill>
                <a:latin typeface="Calibri"/>
              </a:rPr>
              <a:t>Un último pago grande = préstamo cancelado; pequeño = charged off. Es el desenlace, no un predictor.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Defensa.  </a:t>
            </a:r>
            <a:r>
              <a:rPr sz="1400">
                <a:solidFill>
                  <a:srgbClr val="222222"/>
                </a:solidFill>
                <a:latin typeface="Calibri"/>
              </a:rPr>
              <a:t>Lista negra documentada columna por columna en config.py y una guarda (assert_no_leakage) que hace fallar el entrenamiento si alguna llega a la matriz de features.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Verificación.  </a:t>
            </a:r>
            <a:r>
              <a:rPr sz="1400">
                <a:solidFill>
                  <a:srgbClr val="222222"/>
                </a:solidFill>
                <a:latin typeface="Calibri"/>
              </a:rPr>
              <a:t>Mismo modelo y mismo split, cambiando solo qué columnas se permiten: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17320"/>
          <a:ext cx="5212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 test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Gini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Solo originaciÃ³n (este repo)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0.7138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 last_pymnt_amnt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0.9005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0.8011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0.6611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 last_pymnt_amnt, last_fico, total_rec_prncp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154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E2E"/>
                </a:solidFill>
                <a:latin typeface="Calibri"/>
              </a:rPr>
              <a:t>Un AUC cercano a 1 en un problema de crédito de consumo no es un buen modelo: es información del futuro.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Decisiones que un modelo de riesgo necesita antes de elegir algoritmo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66160" cy="4754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Preprocesamiento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Todo dentro de un Pipeline de scikit-learn: se ajusta solo con train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Faltantes informativos (buró desde 2012): mediana + indicador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Categorías raras agrupadas (&lt; 0.5 %)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Variables derivadas: FICO medio, antigüedad crediticia, cuota/ingreso, préstamo/ingreso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3566160" cy="4754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Desbalance y métricas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Sin remuestreo: class_weight / scale_pos_weight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El test conserva la tasa real (~15–20 %)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Se reporta AUC, Gini, KS, PR-AUC, Brier y calibración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Accuracy no: aprobar a todos ya da ~0.80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34440"/>
            <a:ext cx="3566160" cy="4754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Modelos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Regresión logística (baseline)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Scorecard: logística sobre WoE, auditable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Random Forest, XGBoost, LightGBM con early stopping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Optuna sobre la validación temporal · SHAP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Resultados (test out-of-time)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Tasa de default en test: 14.9% · variables de precio de LendingClub incluidas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67665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68680"/>
                <a:gridCol w="822960"/>
                <a:gridCol w="86868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Gini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train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0.311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scorecard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0.408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0.296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0.284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0" y="1234440"/>
            <a:ext cx="3931920" cy="2926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4630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Mejor modelo: 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965960"/>
            <a:ext cx="347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AUC 0.715 → Gini 0.430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KS 0.314: separación máxima entre buenos y malos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Brecha train–test AUC: +0.018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La brecha AUC train vs test mide sobreajuste. Con variables de originación, en este dataset la literatura sitúa el AUC alcanzable alrededor de 0.70–0.73; valores muy superiores indican fuga de información.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Ordenamiento, precisión sobre la clase minoritaria y calibración</a:t>
            </a:r>
          </a:p>
        </p:txBody>
      </p:sp>
      <p:pic>
        <p:nvPicPr>
          <p:cNvPr id="5" name="Picture 4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7406640" cy="3086100"/>
          </a:xfrm>
          <a:prstGeom prst="rect">
            <a:avLst/>
          </a:prstGeom>
        </p:spPr>
      </p:pic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34440"/>
            <a:ext cx="356616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4937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Calibración: si el modelo dice 20 %, ~20 % de esos clientes deben hacer default. Necesario para fijar tasas y límites.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De la probabilidad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Tabla de deciles y punto de corte por costo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94360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1097280"/>
                <a:gridCol w="1188720"/>
                <a:gridCol w="1097280"/>
                <a:gridCol w="82296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Decil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Préstamos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Tasa default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Defaults acum.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Buenos acum.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25.5%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1.71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17.0%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11.4%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10,006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0060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Decil 1 = 10 % de mayor score. "Defaults acum." es la fracción de todos los defaults que se evita rechazando hasta ese decil; "Buenos acum." lo que cuesta en clientes buenos.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234440"/>
            <a:ext cx="475488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4630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Punto de corte (lightgbm)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965960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Costo FN : FP = 5 : 1, umbral elegido en validación: 0.51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Aprobación: 65.8% de las solicitudes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Tasa de default de los aprobados: 9.1% (vs 14.9% sin modelo)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Defaults detectados (recall): 60%</a:t>
            </a:r>
          </a:p>
        </p:txBody>
      </p:sp>
      <p:pic>
        <p:nvPicPr>
          <p:cNvPr id="11" name="Picture 10" descr="deciles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680" y="4114800"/>
            <a:ext cx="3271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Estabilidad y explicabilidad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PSI train → test por variable · contribución SHAP del mejor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A"/>
                </a:solidFill>
                <a:latin typeface="Calibri"/>
              </a:rPr>
              <a:t>33 de 64 variables con PSI &gt; 0.1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4754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12801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num_bc_tl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num_tl_op_past_12m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pct_tl_nvr_dlq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total_il_high_credit_limit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mo_sin_old_rev_tl_op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num_actv_rev_tl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total_rev_hi_lim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num_rev_tl_bal_gt_0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inestable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PSI &lt; 0.10 estable · 0.10–0.25 vigilar · &gt; 0.25 cambio significativo. En este dataset la deriva más fuerte viene del patrón de faltantes: las variables de buró se incorporaron en 2012 y están vacías en las cosechas antiguas.</a:t>
            </a:r>
          </a:p>
        </p:txBody>
      </p:sp>
      <p:pic>
        <p:nvPicPr>
          <p:cNvPr id="9" name="Picture 8" descr="shap_summary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5943600" cy="3968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Conclusiones y siguientes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Resultado.  </a:t>
            </a:r>
            <a:r>
              <a:rPr sz="1400">
                <a:solidFill>
                  <a:srgbClr val="222222"/>
                </a:solidFill>
                <a:latin typeface="Calibri"/>
              </a:rPr>
              <a:t>Mejor modelo lightgbm con AUC 0.715 / KS 0.314 en test out-of-time.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Validación honesta.  </a:t>
            </a:r>
            <a:r>
              <a:rPr sz="1400">
                <a:solidFill>
                  <a:srgbClr val="222222"/>
                </a:solidFill>
                <a:latin typeface="Calibri"/>
              </a:rPr>
              <a:t>Split temporal, sin remuestreo del test y sin variables posteriores a la originación. El AUC resultante es el que se puede esperar en producción.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Decisión, no solo score.  </a:t>
            </a:r>
            <a:r>
              <a:rPr sz="1400">
                <a:solidFill>
                  <a:srgbClr val="222222"/>
                </a:solidFill>
                <a:latin typeface="Calibri"/>
              </a:rPr>
              <a:t>Umbral por costo y tabla de deciles permiten discutir con negocio cuánto riesgo aceptar.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Auditable.  </a:t>
            </a:r>
            <a:r>
              <a:rPr sz="1400">
                <a:solidFill>
                  <a:srgbClr val="222222"/>
                </a:solidFill>
                <a:latin typeface="Calibri"/>
              </a:rPr>
              <a:t>Scorecard WoE al lado de los boosters; SHAP para el modelo elegido; lista negra de leakage con test automatizado.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234440"/>
            <a:ext cx="484632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Siguientes 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965960"/>
            <a:ext cx="4389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Curvas por cosecha (vintage) y monitoreo continuo de PSI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Binning óptimo con monotonía para el scorecard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Reject inference: solo se observan préstamos aprobados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LGD / EAD para pasar de PD a pérdida esperada y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Predicción de default en préstamos P2P · LendingClub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2B4A"/>
                </a:solidFill>
                <a:latin typeface="Calibri"/>
              </a:rP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B4A"/>
                </a:solidFill>
                <a:latin typeface="Calibri"/>
              </a:rPr>
              <a:t>Autores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Rosario Sánchez Mosquipa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Ruth Velarde Retamozo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Juan Gutiérrez Aguilar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Katherine Mauri Córdova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Densel Castillón Medina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Programa.  </a:t>
            </a:r>
            <a:r>
              <a:rPr sz="1400">
                <a:solidFill>
                  <a:srgbClr val="222222"/>
                </a:solidFill>
                <a:latin typeface="Calibri"/>
              </a:rPr>
              <a:t>Diplomado en Data Analytics, Pontificia Universidad Católica del Perú (2025).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Datos.  </a:t>
            </a:r>
            <a:r>
              <a:rPr sz="1400">
                <a:solidFill>
                  <a:srgbClr val="222222"/>
                </a:solidFill>
                <a:latin typeface="Calibri"/>
              </a:rPr>
              <a:t>LendingClub 2007–2018Q4 vía Kaggle (wordsforthewise/lending-club).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42B4A"/>
                </a:solidFill>
                <a:latin typeface="Calibri"/>
              </a:rPr>
              <a:t>Código.  </a:t>
            </a:r>
            <a:r>
              <a:rPr sz="1400">
                <a:solidFill>
                  <a:srgbClr val="222222"/>
                </a:solidFill>
                <a:latin typeface="Calibri"/>
              </a:rPr>
              <a:t>Repositorio reproducible: tests, CI y generación automática de reportes y de esta presentación.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